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643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067" autoAdjust="0"/>
    <p:restoredTop sz="94660"/>
  </p:normalViewPr>
  <p:slideViewPr>
    <p:cSldViewPr snapToGrid="0">
      <p:cViewPr>
        <p:scale>
          <a:sx n="86" d="100"/>
          <a:sy n="86" d="100"/>
        </p:scale>
        <p:origin x="14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375D271-4BFA-BA43-BAC3-FA8152983E69}"/>
              </a:ext>
            </a:extLst>
          </p:cNvPr>
          <p:cNvSpPr/>
          <p:nvPr userDrawn="1"/>
        </p:nvSpPr>
        <p:spPr>
          <a:xfrm>
            <a:off x="-8912" y="2350908"/>
            <a:ext cx="12200912" cy="4521200"/>
          </a:xfrm>
          <a:prstGeom prst="rect">
            <a:avLst/>
          </a:prstGeom>
          <a:solidFill>
            <a:srgbClr val="9C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E0B0F5-C4F2-4F4D-BA2F-9388F167A2EB}"/>
              </a:ext>
            </a:extLst>
          </p:cNvPr>
          <p:cNvSpPr/>
          <p:nvPr userDrawn="1"/>
        </p:nvSpPr>
        <p:spPr>
          <a:xfrm flipV="1">
            <a:off x="1" y="-3233"/>
            <a:ext cx="12192000" cy="172718"/>
          </a:xfrm>
          <a:prstGeom prst="rect">
            <a:avLst/>
          </a:prstGeom>
          <a:solidFill>
            <a:srgbClr val="9C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pic>
        <p:nvPicPr>
          <p:cNvPr id="11" name="Image 10" descr="CentraleSupélec Quadri UPSaclay.jpg">
            <a:extLst>
              <a:ext uri="{FF2B5EF4-FFF2-40B4-BE49-F238E27FC236}">
                <a16:creationId xmlns:a16="http://schemas.microsoft.com/office/drawing/2014/main" id="{9818629A-0E79-B44A-8338-411CE3A57B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22"/>
          <a:stretch/>
        </p:blipFill>
        <p:spPr>
          <a:xfrm>
            <a:off x="3494708" y="609601"/>
            <a:ext cx="5065898" cy="1457257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4DDB74C-B214-3142-8B42-2B8B91DFD0F6}"/>
              </a:ext>
            </a:extLst>
          </p:cNvPr>
          <p:cNvCxnSpPr/>
          <p:nvPr userDrawn="1"/>
        </p:nvCxnSpPr>
        <p:spPr>
          <a:xfrm>
            <a:off x="2066406" y="4611508"/>
            <a:ext cx="8121648" cy="2356"/>
          </a:xfrm>
          <a:prstGeom prst="line">
            <a:avLst/>
          </a:prstGeom>
          <a:ln w="12700" cmpd="sng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29A9CA-9020-CE47-8A56-64DF0C2A24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3862966"/>
            <a:ext cx="12192000" cy="74854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0DF6CAB-2354-3744-BD03-908A1EE25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8913" y="4611509"/>
            <a:ext cx="12200912" cy="450085"/>
          </a:xfrm>
        </p:spPr>
        <p:txBody>
          <a:bodyPr/>
          <a:lstStyle>
            <a:lvl1pPr marL="0" indent="0" algn="ctr">
              <a:buFontTx/>
              <a:buNone/>
              <a:defRPr lang="fr-FR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Sous-titre sous-titre</a:t>
            </a:r>
          </a:p>
        </p:txBody>
      </p:sp>
    </p:spTree>
    <p:extLst>
      <p:ext uri="{BB962C8B-B14F-4D97-AF65-F5344CB8AC3E}">
        <p14:creationId xmlns:p14="http://schemas.microsoft.com/office/powerpoint/2010/main" val="238726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81BD2C-A329-DF40-918E-F57C31B400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57" y="1115573"/>
            <a:ext cx="6816912" cy="3778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8D7D9B"/>
                </a:solidFill>
              </a:defRPr>
            </a:lvl1pPr>
          </a:lstStyle>
          <a:p>
            <a:pPr lvl="0"/>
            <a:r>
              <a:rPr lang="fr-FR" dirty="0"/>
              <a:t>Cliquez et modifier le sous-titre 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561F364-37D2-9749-B9C1-C0DE56C63895}"/>
              </a:ext>
            </a:extLst>
          </p:cNvPr>
          <p:cNvCxnSpPr/>
          <p:nvPr userDrawn="1"/>
        </p:nvCxnSpPr>
        <p:spPr>
          <a:xfrm>
            <a:off x="377528" y="1096988"/>
            <a:ext cx="6178042" cy="0"/>
          </a:xfrm>
          <a:prstGeom prst="line">
            <a:avLst/>
          </a:prstGeom>
          <a:ln w="12700" cmpd="sng">
            <a:solidFill>
              <a:srgbClr val="9C0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D713F23-B400-D447-9252-5F476D2F53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59477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81BD2C-A329-DF40-918E-F57C31B400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57" y="1115573"/>
            <a:ext cx="6816912" cy="3778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8D7D9B"/>
                </a:solidFill>
              </a:defRPr>
            </a:lvl1pPr>
          </a:lstStyle>
          <a:p>
            <a:pPr lvl="0"/>
            <a:r>
              <a:rPr lang="fr-FR" dirty="0"/>
              <a:t>Cliquez et modifier le sous-titre 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561F364-37D2-9749-B9C1-C0DE56C63895}"/>
              </a:ext>
            </a:extLst>
          </p:cNvPr>
          <p:cNvCxnSpPr/>
          <p:nvPr userDrawn="1"/>
        </p:nvCxnSpPr>
        <p:spPr>
          <a:xfrm>
            <a:off x="377528" y="1096988"/>
            <a:ext cx="6178042" cy="0"/>
          </a:xfrm>
          <a:prstGeom prst="line">
            <a:avLst/>
          </a:prstGeom>
          <a:ln w="12700" cmpd="sng">
            <a:solidFill>
              <a:srgbClr val="9C0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4027B253-EAAA-124B-8AED-5D3B7A07E4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600202"/>
            <a:ext cx="10972801" cy="4525963"/>
          </a:xfrm>
        </p:spPr>
        <p:txBody>
          <a:bodyPr numCol="2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46084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7703E59-CB52-1E43-8C46-1D5E0C1A0839}"/>
              </a:ext>
            </a:extLst>
          </p:cNvPr>
          <p:cNvCxnSpPr/>
          <p:nvPr userDrawn="1"/>
        </p:nvCxnSpPr>
        <p:spPr>
          <a:xfrm>
            <a:off x="377528" y="1096988"/>
            <a:ext cx="6178042" cy="0"/>
          </a:xfrm>
          <a:prstGeom prst="line">
            <a:avLst/>
          </a:prstGeom>
          <a:ln w="12700" cmpd="sng">
            <a:solidFill>
              <a:srgbClr val="9C0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1D885C5D-621B-EC43-9B3A-FCDEB8DD4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57" y="1115573"/>
            <a:ext cx="6816912" cy="3778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8D7D9B"/>
                </a:solidFill>
              </a:defRPr>
            </a:lvl1pPr>
          </a:lstStyle>
          <a:p>
            <a:pPr lvl="0"/>
            <a:r>
              <a:rPr lang="fr-FR" dirty="0"/>
              <a:t>Cliquez et modifier le sous-titre </a:t>
            </a:r>
          </a:p>
        </p:txBody>
      </p:sp>
    </p:spTree>
    <p:extLst>
      <p:ext uri="{BB962C8B-B14F-4D97-AF65-F5344CB8AC3E}">
        <p14:creationId xmlns:p14="http://schemas.microsoft.com/office/powerpoint/2010/main" val="164043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4E73A5-B861-904F-AA86-EDD44532CF95}"/>
              </a:ext>
            </a:extLst>
          </p:cNvPr>
          <p:cNvSpPr/>
          <p:nvPr userDrawn="1"/>
        </p:nvSpPr>
        <p:spPr>
          <a:xfrm>
            <a:off x="2297815" y="0"/>
            <a:ext cx="9446021" cy="6858000"/>
          </a:xfrm>
          <a:prstGeom prst="rect">
            <a:avLst/>
          </a:prstGeom>
          <a:solidFill>
            <a:srgbClr val="9C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807006" y="2952064"/>
            <a:ext cx="7975924" cy="67199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PAgE</a:t>
            </a:r>
            <a:r>
              <a:rPr lang="fr-FR" dirty="0"/>
              <a:t>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2807005" y="3624059"/>
            <a:ext cx="8691727" cy="5222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57CA7F56-56BC-3C46-B5E8-BC620F82A6DB}"/>
              </a:ext>
            </a:extLst>
          </p:cNvPr>
          <p:cNvCxnSpPr/>
          <p:nvPr userDrawn="1"/>
        </p:nvCxnSpPr>
        <p:spPr>
          <a:xfrm>
            <a:off x="2807005" y="3624058"/>
            <a:ext cx="3738867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14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4E73A5-B861-904F-AA86-EDD44532CF95}"/>
              </a:ext>
            </a:extLst>
          </p:cNvPr>
          <p:cNvSpPr/>
          <p:nvPr userDrawn="1"/>
        </p:nvSpPr>
        <p:spPr>
          <a:xfrm>
            <a:off x="2486396" y="1846555"/>
            <a:ext cx="9257440" cy="3462292"/>
          </a:xfrm>
          <a:prstGeom prst="rect">
            <a:avLst/>
          </a:prstGeom>
          <a:solidFill>
            <a:srgbClr val="9C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807006" y="2952064"/>
            <a:ext cx="7975924" cy="67199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PAgE</a:t>
            </a:r>
            <a:r>
              <a:rPr lang="fr-FR" dirty="0"/>
              <a:t>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2807005" y="3624059"/>
            <a:ext cx="8691727" cy="5222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57CA7F56-56BC-3C46-B5E8-BC620F82A6DB}"/>
              </a:ext>
            </a:extLst>
          </p:cNvPr>
          <p:cNvCxnSpPr/>
          <p:nvPr userDrawn="1"/>
        </p:nvCxnSpPr>
        <p:spPr>
          <a:xfrm>
            <a:off x="2807005" y="3624058"/>
            <a:ext cx="3738867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1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000F2C7B-35CD-0B49-B6AD-98028C39D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57" y="1115573"/>
            <a:ext cx="6816912" cy="3778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8D7D9B"/>
                </a:solidFill>
              </a:defRPr>
            </a:lvl1pPr>
          </a:lstStyle>
          <a:p>
            <a:pPr lvl="0"/>
            <a:r>
              <a:rPr lang="fr-FR" dirty="0"/>
              <a:t>Cliquez et modifier le sous-titre 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8DB0178-C1A9-3841-B430-F4EE038E6DCB}"/>
              </a:ext>
            </a:extLst>
          </p:cNvPr>
          <p:cNvCxnSpPr/>
          <p:nvPr userDrawn="1"/>
        </p:nvCxnSpPr>
        <p:spPr>
          <a:xfrm>
            <a:off x="377528" y="1096988"/>
            <a:ext cx="6178042" cy="0"/>
          </a:xfrm>
          <a:prstGeom prst="line">
            <a:avLst/>
          </a:prstGeom>
          <a:ln w="12700" cmpd="sng">
            <a:solidFill>
              <a:srgbClr val="9C0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C00E086E-FBC6-734D-B43B-ACBA63E8C8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7516" y="1573679"/>
            <a:ext cx="5386917" cy="4552484"/>
          </a:xfrm>
        </p:spPr>
        <p:txBody>
          <a:bodyPr numCol="1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6E3F7E71-A216-1248-9972-83D43EA696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3367" y="1573679"/>
            <a:ext cx="5386917" cy="4552484"/>
          </a:xfrm>
        </p:spPr>
        <p:txBody>
          <a:bodyPr numCol="1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80826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Text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D2B02B0-5355-B143-AAEE-A5C0811CF4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8454" y="1600201"/>
            <a:ext cx="5587894" cy="4525963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F74F15EC-907A-0C4D-A684-FD20A39A80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857" y="1115573"/>
            <a:ext cx="6816912" cy="3778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8D7D9B"/>
                </a:solidFill>
              </a:defRPr>
            </a:lvl1pPr>
          </a:lstStyle>
          <a:p>
            <a:pPr lvl="0"/>
            <a:r>
              <a:rPr lang="fr-FR" dirty="0"/>
              <a:t>Cliquez et modifier le sous-titre 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5F274A0-60B0-464E-9AB5-1B12F4AB9F0A}"/>
              </a:ext>
            </a:extLst>
          </p:cNvPr>
          <p:cNvCxnSpPr/>
          <p:nvPr userDrawn="1"/>
        </p:nvCxnSpPr>
        <p:spPr>
          <a:xfrm>
            <a:off x="377528" y="1096988"/>
            <a:ext cx="6178042" cy="0"/>
          </a:xfrm>
          <a:prstGeom prst="line">
            <a:avLst/>
          </a:prstGeom>
          <a:ln w="12700" cmpd="sng">
            <a:solidFill>
              <a:srgbClr val="9C0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2D31BECE-B3E5-4A4F-9E77-BA3B3BD7C2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1" y="1600202"/>
            <a:ext cx="5333947" cy="4525962"/>
          </a:xfrm>
        </p:spPr>
        <p:txBody>
          <a:bodyPr numCol="1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93844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avec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1C695034-5234-B040-923A-C0EF1FFA06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57" y="1115573"/>
            <a:ext cx="6816912" cy="3778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8D7D9B"/>
                </a:solidFill>
              </a:defRPr>
            </a:lvl1pPr>
          </a:lstStyle>
          <a:p>
            <a:pPr lvl="0"/>
            <a:r>
              <a:rPr lang="fr-FR" dirty="0"/>
              <a:t>Cliquez et modifier le sous-titre 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1767126-D778-1A4C-BB4C-80C59D62D80F}"/>
              </a:ext>
            </a:extLst>
          </p:cNvPr>
          <p:cNvCxnSpPr/>
          <p:nvPr userDrawn="1"/>
        </p:nvCxnSpPr>
        <p:spPr>
          <a:xfrm>
            <a:off x="377528" y="1096988"/>
            <a:ext cx="6178042" cy="0"/>
          </a:xfrm>
          <a:prstGeom prst="line">
            <a:avLst/>
          </a:prstGeom>
          <a:ln w="12700" cmpd="sng">
            <a:solidFill>
              <a:srgbClr val="9C0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B56E3D8A-569A-6E48-AE7D-205908287F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1" y="2216592"/>
            <a:ext cx="5386917" cy="3909572"/>
          </a:xfrm>
        </p:spPr>
        <p:txBody>
          <a:bodyPr numCol="1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31C7D288-1A3C-1C49-AABB-F1CB6B5D81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5482" y="2243084"/>
            <a:ext cx="5386917" cy="3909572"/>
          </a:xfrm>
        </p:spPr>
        <p:txBody>
          <a:bodyPr numCol="1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75517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it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cteur droit 9"/>
          <p:cNvCxnSpPr/>
          <p:nvPr userDrawn="1"/>
        </p:nvCxnSpPr>
        <p:spPr bwMode="gray">
          <a:xfrm>
            <a:off x="814917" y="1082676"/>
            <a:ext cx="0" cy="5775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 bwMode="gray">
          <a:xfrm flipH="1">
            <a:off x="814917" y="1557338"/>
            <a:ext cx="113770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 bwMode="gray">
          <a:xfrm>
            <a:off x="1" y="6742114"/>
            <a:ext cx="814917" cy="115887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9858401-1896-4F80-9B2B-186795E41C2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texte 14"/>
          <p:cNvSpPr>
            <a:spLocks noGrp="1"/>
          </p:cNvSpPr>
          <p:nvPr>
            <p:ph type="body" sz="quarter" idx="13"/>
          </p:nvPr>
        </p:nvSpPr>
        <p:spPr bwMode="gray">
          <a:xfrm>
            <a:off x="2063751" y="2420938"/>
            <a:ext cx="8737600" cy="3384550"/>
          </a:xfrm>
        </p:spPr>
        <p:txBody>
          <a:bodyPr/>
          <a:lstStyle>
            <a:lvl1pPr>
              <a:spcAft>
                <a:spcPts val="0"/>
              </a:spcAft>
              <a:defRPr sz="3800" b="1" cap="small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500" i="1"/>
            </a:lvl2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pic>
        <p:nvPicPr>
          <p:cNvPr id="11" name="Image 10" descr="Logo_2_35x80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0" y="2"/>
            <a:ext cx="1680001" cy="288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7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2"/>
            <a:ext cx="9141619" cy="5334001"/>
          </a:xfrm>
          <a:prstGeom prst="rect">
            <a:avLst/>
          </a:prstGeom>
          <a:solidFill>
            <a:srgbClr val="C01D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045" y="1298448"/>
            <a:ext cx="6990002" cy="3255264"/>
          </a:xfrm>
        </p:spPr>
        <p:txBody>
          <a:bodyPr anchor="b">
            <a:normAutofit/>
          </a:bodyPr>
          <a:lstStyle>
            <a:lvl1pPr algn="l">
              <a:defRPr sz="4425" spc="-75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47" y="4670246"/>
            <a:ext cx="7020169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165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5876702-F6C4-974D-A1AC-205746E9A7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428"/>
            <a:ext cx="1501443" cy="299167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0064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798" y="417518"/>
            <a:ext cx="10950911" cy="9747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023950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B88B2AD9-D81C-4BF2-81EC-03C39F0887E2}"/>
              </a:ext>
            </a:extLst>
          </p:cNvPr>
          <p:cNvSpPr/>
          <p:nvPr userDrawn="1"/>
        </p:nvSpPr>
        <p:spPr>
          <a:xfrm>
            <a:off x="1103437" y="304800"/>
            <a:ext cx="10885331" cy="9144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216">
              <a:latin typeface="Cooper Black"/>
              <a:cs typeface="Cooper Black"/>
            </a:endParaRP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35F32461-8EF5-4CC0-99B1-A21B32B9E2A5}"/>
              </a:ext>
            </a:extLst>
          </p:cNvPr>
          <p:cNvSpPr/>
          <p:nvPr userDrawn="1"/>
        </p:nvSpPr>
        <p:spPr>
          <a:xfrm>
            <a:off x="1001822" y="228600"/>
            <a:ext cx="10885330" cy="914400"/>
          </a:xfrm>
          <a:prstGeom prst="roundRect">
            <a:avLst/>
          </a:prstGeom>
          <a:solidFill>
            <a:srgbClr val="1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216">
              <a:latin typeface="Cooper Black"/>
              <a:cs typeface="Cooper Black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68056" y="419100"/>
            <a:ext cx="10972801" cy="876300"/>
          </a:xfrm>
        </p:spPr>
        <p:txBody>
          <a:bodyPr>
            <a:normAutofit/>
          </a:bodyPr>
          <a:lstStyle>
            <a:lvl1pPr algn="l"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11B3C0E-482D-4D67-9CB0-66AB560E59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37047" y="6356353"/>
            <a:ext cx="2845256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CA5439B-FE6D-4521-B014-53D7DC68E69B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3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655547"/>
            <a:ext cx="2947482" cy="40694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3" y="868680"/>
            <a:ext cx="3474720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F7B3CD-8394-4974-AF82-3715391F4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" y="6376991"/>
            <a:ext cx="814917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fr-FR" sz="11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19858401-1896-4F80-9B2B-186795E41C27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3637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">
            <a:extLst>
              <a:ext uri="{FF2B5EF4-FFF2-40B4-BE49-F238E27FC236}">
                <a16:creationId xmlns:a16="http://schemas.microsoft.com/office/drawing/2014/main" id="{F0C75B2F-2027-47C4-A4CB-43E26AA26E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fr-FR" altLang="fr-FR" sz="1799">
              <a:solidFill>
                <a:srgbClr val="FFFFFF"/>
              </a:solidFill>
            </a:endParaRPr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23F6173D-4140-4E78-9959-210B7F778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568" y="6340475"/>
            <a:ext cx="279445" cy="1968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MS PGothic" charset="-128"/>
              </a:defRPr>
            </a:lvl1pPr>
          </a:lstStyle>
          <a:p>
            <a:pPr>
              <a:defRPr/>
            </a:pPr>
            <a:fld id="{DECB73A1-18F4-403F-95C2-29B362D7E459}" type="slidenum">
              <a:rPr/>
              <a:pPr>
                <a:defRPr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52121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verture"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gray">
          <a:xfrm>
            <a:off x="1007435" y="1969790"/>
            <a:ext cx="11184566" cy="48882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latin typeface="Century Gothic" panose="020B0502020202020204" pitchFamily="34" charset="0"/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 bwMode="gray">
          <a:xfrm>
            <a:off x="1" y="6742114"/>
            <a:ext cx="814917" cy="115887"/>
          </a:xfrm>
        </p:spPr>
        <p:txBody>
          <a:bodyPr lIns="0" tIns="0" rIns="0" bIns="0"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 bwMode="gray">
          <a:xfrm>
            <a:off x="1" y="6742115"/>
            <a:ext cx="814917" cy="115887"/>
          </a:xfrm>
        </p:spPr>
        <p:txBody>
          <a:bodyPr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fld id="{19858401-1896-4F80-9B2B-186795E41C2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2"/>
          </p:nvPr>
        </p:nvSpPr>
        <p:spPr bwMode="gray">
          <a:xfrm>
            <a:off x="1" y="6742115"/>
            <a:ext cx="814917" cy="115887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pPr algn="l"/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/>
          </p:nvPr>
        </p:nvSpPr>
        <p:spPr bwMode="gray">
          <a:xfrm>
            <a:off x="2544234" y="2420938"/>
            <a:ext cx="8257117" cy="3384550"/>
          </a:xfrm>
        </p:spPr>
        <p:txBody>
          <a:bodyPr/>
          <a:lstStyle>
            <a:lvl1pPr>
              <a:spcAft>
                <a:spcPts val="0"/>
              </a:spcAft>
              <a:defRPr sz="3800" b="1" cap="small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500" i="1">
                <a:solidFill>
                  <a:schemeClr val="bg1"/>
                </a:solidFill>
              </a:defRPr>
            </a:lvl2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pic>
        <p:nvPicPr>
          <p:cNvPr id="16" name="Image 15" descr="Logo_1_40x95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0" y="2"/>
            <a:ext cx="1920000" cy="342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24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253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4535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PSST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7092" y="1178429"/>
            <a:ext cx="11157819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387" indent="0">
              <a:buNone/>
              <a:defRPr sz="1600"/>
            </a:lvl2pPr>
            <a:lvl3pPr marL="1218773" indent="0">
              <a:buNone/>
              <a:defRPr sz="1333"/>
            </a:lvl3pPr>
            <a:lvl4pPr marL="1828160" indent="0">
              <a:buNone/>
              <a:defRPr sz="1200"/>
            </a:lvl4pPr>
            <a:lvl5pPr marL="2437547" indent="0">
              <a:buNone/>
              <a:defRPr sz="1200"/>
            </a:lvl5pPr>
            <a:lvl6pPr marL="3046934" indent="0">
              <a:buNone/>
              <a:defRPr sz="1200"/>
            </a:lvl6pPr>
            <a:lvl7pPr marL="3656320" indent="0">
              <a:buNone/>
              <a:defRPr sz="1200"/>
            </a:lvl7pPr>
            <a:lvl8pPr marL="4265707" indent="0">
              <a:buNone/>
              <a:defRPr sz="1200"/>
            </a:lvl8pPr>
            <a:lvl9pPr marL="4875094" indent="0">
              <a:buNone/>
              <a:defRPr sz="12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17092" y="455087"/>
            <a:ext cx="11157819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799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0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7527" y="320748"/>
            <a:ext cx="11814473" cy="776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B8B01-6159-F944-9315-1A8BF1D54865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 descr="CentraleSupélec Quadri UPSaclay.jpg">
            <a:extLst>
              <a:ext uri="{FF2B5EF4-FFF2-40B4-BE49-F238E27FC236}">
                <a16:creationId xmlns:a16="http://schemas.microsoft.com/office/drawing/2014/main" id="{5BC10EC4-0F0C-8D4D-96BC-5D58D03DD3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22"/>
          <a:stretch/>
        </p:blipFill>
        <p:spPr>
          <a:xfrm>
            <a:off x="211751" y="6157474"/>
            <a:ext cx="1960655" cy="5640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800B4E-5E72-DA4E-9ADD-D5AF0B0F72C0}"/>
              </a:ext>
            </a:extLst>
          </p:cNvPr>
          <p:cNvSpPr/>
          <p:nvPr userDrawn="1"/>
        </p:nvSpPr>
        <p:spPr>
          <a:xfrm flipV="1">
            <a:off x="1" y="-94"/>
            <a:ext cx="12192000" cy="172718"/>
          </a:xfrm>
          <a:prstGeom prst="rect">
            <a:avLst/>
          </a:prstGeom>
          <a:solidFill>
            <a:srgbClr val="9C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79A533B1-5327-1C46-9F2E-63C62341F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5" y="6356351"/>
            <a:ext cx="41158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24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rgbClr val="9C003B"/>
          </a:solidFill>
          <a:latin typeface="Lucida Sans" panose="020B0602030504020204" pitchFamily="34" charset="7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Lucida Sans" panose="020B0602030504020204" pitchFamily="34" charset="7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Lucida Sans" panose="020B0602030504020204" pitchFamily="34" charset="7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3">
            <a:extLst>
              <a:ext uri="{FF2B5EF4-FFF2-40B4-BE49-F238E27FC236}">
                <a16:creationId xmlns:a16="http://schemas.microsoft.com/office/drawing/2014/main" id="{CCA4668E-032D-4F39-86B5-A745D4DB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936949"/>
              </p:ext>
            </p:extLst>
          </p:nvPr>
        </p:nvGraphicFramePr>
        <p:xfrm>
          <a:off x="457633" y="1713276"/>
          <a:ext cx="11267226" cy="214649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33613">
                  <a:extLst>
                    <a:ext uri="{9D8B030D-6E8A-4147-A177-3AD203B41FA5}">
                      <a16:colId xmlns:a16="http://schemas.microsoft.com/office/drawing/2014/main" val="3842426283"/>
                    </a:ext>
                  </a:extLst>
                </a:gridCol>
                <a:gridCol w="5633613">
                  <a:extLst>
                    <a:ext uri="{9D8B030D-6E8A-4147-A177-3AD203B41FA5}">
                      <a16:colId xmlns:a16="http://schemas.microsoft.com/office/drawing/2014/main" val="2551308736"/>
                    </a:ext>
                  </a:extLst>
                </a:gridCol>
              </a:tblGrid>
              <a:tr h="342003"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fr-FR" sz="1600" dirty="0"/>
                        <a:t>Travaux réalisés (depuis la précédente RSA)</a:t>
                      </a:r>
                    </a:p>
                  </a:txBody>
                  <a:tcPr marL="121888" marR="121888" marT="60944" marB="60944" anchor="ctr"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Travaux à faire (jusqu’à la prochaine RSA)</a:t>
                      </a:r>
                      <a:endParaRPr lang="fr-FR" sz="1600" dirty="0">
                        <a:solidFill>
                          <a:prstClr val="white"/>
                        </a:solidFill>
                        <a:latin typeface="+mn-lt"/>
                      </a:endParaRPr>
                    </a:p>
                  </a:txBody>
                  <a:tcPr marL="121888" marR="121888" marT="60944" marB="60944"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8804597"/>
                  </a:ext>
                </a:extLst>
              </a:tr>
              <a:tr h="1780762"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6858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342900" algn="l"/>
                        </a:tabLst>
                        <a:defRPr/>
                      </a:pPr>
                      <a:r>
                        <a:rPr lang="fr-FR" altLang="fr-FR" sz="1200" kern="1200" dirty="0">
                          <a:solidFill>
                            <a:schemeClr val="tx1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  <a:t>Avancée dans la biblio sur le principe du codage en réseau de tenseurs et sur les algorithmes quantiques classiques</a:t>
                      </a:r>
                    </a:p>
                    <a:p>
                      <a:pPr marL="171450" marR="0" lvl="0" indent="-171450" algn="l" defTabSz="6858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342900" algn="l"/>
                        </a:tabLst>
                        <a:defRPr/>
                      </a:pPr>
                      <a:r>
                        <a:rPr lang="fr-FR" altLang="fr-FR" sz="1200" kern="1200" dirty="0">
                          <a:solidFill>
                            <a:schemeClr val="tx1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  <a:t>Début de prise en main du code de réseaux quantiques</a:t>
                      </a:r>
                    </a:p>
                    <a:p>
                      <a:endParaRPr lang="fr-FR" sz="1200" dirty="0"/>
                    </a:p>
                  </a:txBody>
                  <a:tcPr marL="121888" marR="121888" marT="60944" marB="60944"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6858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342900" algn="l"/>
                        </a:tabLst>
                        <a:defRPr/>
                      </a:pPr>
                      <a:r>
                        <a:rPr lang="fr-FR" altLang="fr-FR" sz="1200" dirty="0">
                          <a:solidFill>
                            <a:schemeClr val="tx1"/>
                          </a:solidFill>
                        </a:rPr>
                        <a:t>Implémenter des algo de passage de circuits quantiques aux réseaux de tenseurs </a:t>
                      </a:r>
                    </a:p>
                    <a:p>
                      <a:pPr marL="171450" marR="0" lvl="0" indent="-171450" algn="l" defTabSz="6858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342900" algn="l"/>
                        </a:tabLst>
                        <a:defRPr/>
                      </a:pPr>
                      <a:r>
                        <a:rPr lang="fr-FR" altLang="fr-FR" sz="1200" dirty="0">
                          <a:solidFill>
                            <a:schemeClr val="tx1"/>
                          </a:solidFill>
                        </a:rPr>
                        <a:t>Implémenter des algo de contraction de réseau de tenseur sans chercher à optimiser l’ordre pour l’instant</a:t>
                      </a:r>
                    </a:p>
                    <a:p>
                      <a:pPr marL="171450" marR="0" lvl="0" indent="-171450" algn="l" defTabSz="6858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342900" algn="l"/>
                        </a:tabLst>
                        <a:defRPr/>
                      </a:pPr>
                      <a:r>
                        <a:rPr lang="fr-FR" altLang="fr-FR" sz="1200" dirty="0">
                          <a:solidFill>
                            <a:schemeClr val="tx1"/>
                          </a:solidFill>
                        </a:rPr>
                        <a:t>Approfondir nos connaissances sur le principe des tenseurs et les contractions, sur les différentes sorties possibles des algo et sur les calculs de cout de contraction</a:t>
                      </a:r>
                    </a:p>
                  </a:txBody>
                  <a:tcPr marL="121888" marR="121888" marT="60944" marB="60944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0073608"/>
                  </a:ext>
                </a:extLst>
              </a:tr>
            </a:tbl>
          </a:graphicData>
        </a:graphic>
      </p:graphicFrame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0416A6D8-7A60-47C7-B55E-1DA81AAD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07573"/>
              </p:ext>
            </p:extLst>
          </p:nvPr>
        </p:nvGraphicFramePr>
        <p:xfrm>
          <a:off x="462386" y="3638387"/>
          <a:ext cx="11267226" cy="225257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33613">
                  <a:extLst>
                    <a:ext uri="{9D8B030D-6E8A-4147-A177-3AD203B41FA5}">
                      <a16:colId xmlns:a16="http://schemas.microsoft.com/office/drawing/2014/main" val="3842426283"/>
                    </a:ext>
                  </a:extLst>
                </a:gridCol>
                <a:gridCol w="5633613">
                  <a:extLst>
                    <a:ext uri="{9D8B030D-6E8A-4147-A177-3AD203B41FA5}">
                      <a16:colId xmlns:a16="http://schemas.microsoft.com/office/drawing/2014/main" val="2551308736"/>
                    </a:ext>
                  </a:extLst>
                </a:gridCol>
              </a:tblGrid>
              <a:tr h="342003"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fr-FR" sz="1600" dirty="0"/>
                        <a:t>Alertes et points d’attention </a:t>
                      </a:r>
                    </a:p>
                  </a:txBody>
                  <a:tcPr marL="121888" marR="121888" marT="60944" marB="60944" anchor="ctr"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Décisions à prendre</a:t>
                      </a:r>
                    </a:p>
                  </a:txBody>
                  <a:tcPr marL="121888" marR="121888" marT="60944" marB="60944"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8804597"/>
                  </a:ext>
                </a:extLst>
              </a:tr>
              <a:tr h="1886846"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r>
                        <a:rPr lang="fr-FR" altLang="fr-FR" sz="1200" i="0" dirty="0">
                          <a:solidFill>
                            <a:schemeClr val="tx1"/>
                          </a:solidFill>
                          <a:latin typeface="Calibri" panose="020F0502020204030204"/>
                        </a:rPr>
                        <a:t>Ne pas rester sur des connaissances de surface, ne présenter que des notions vraiment comprises</a:t>
                      </a:r>
                    </a:p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r>
                        <a:rPr lang="fr-FR" altLang="fr-FR" sz="1200" i="0" u="none" dirty="0">
                          <a:solidFill>
                            <a:schemeClr val="tx1"/>
                          </a:solidFill>
                          <a:latin typeface="Calibri" panose="020F0502020204030204"/>
                        </a:rPr>
                        <a:t>Faire nous même </a:t>
                      </a:r>
                      <a:r>
                        <a:rPr lang="fr-FR" altLang="fr-FR" sz="1200" i="0" u="none" dirty="0">
                          <a:solidFill>
                            <a:schemeClr val="tx1"/>
                          </a:solidFill>
                          <a:latin typeface="Calibri" panose="020F0502020204030204"/>
                          <a:sym typeface="Wingdings" pitchFamily="2" charset="2"/>
                        </a:rPr>
                        <a:t> coder et donner des exemples concrets </a:t>
                      </a:r>
                    </a:p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r>
                        <a:rPr lang="fr-FR" altLang="fr-FR" sz="1200" i="0" u="none" dirty="0">
                          <a:solidFill>
                            <a:schemeClr val="tx1"/>
                          </a:solidFill>
                          <a:latin typeface="Calibri" panose="020F0502020204030204"/>
                          <a:sym typeface="Wingdings" pitchFamily="2" charset="2"/>
                        </a:rPr>
                        <a:t>Ne pas se disperser sur des notions trop complexes </a:t>
                      </a:r>
                    </a:p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r>
                        <a:rPr lang="fr-FR" altLang="fr-FR" sz="1200" i="0" u="none" dirty="0">
                          <a:solidFill>
                            <a:schemeClr val="tx1"/>
                          </a:solidFill>
                          <a:latin typeface="Calibri" panose="020F0502020204030204"/>
                          <a:sym typeface="Wingdings" pitchFamily="2" charset="2"/>
                        </a:rPr>
                        <a:t>Maitriser en profondeur un petit périmètre</a:t>
                      </a:r>
                    </a:p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endParaRPr lang="fr-FR" altLang="fr-FR" sz="1200" i="1" dirty="0">
                        <a:solidFill>
                          <a:schemeClr val="tx1"/>
                        </a:solidFill>
                        <a:latin typeface="Calibri" panose="020F0502020204030204"/>
                      </a:endParaRPr>
                    </a:p>
                    <a:p>
                      <a:pPr marL="228525" indent="-228525" defTabSz="914103" eaLnBrk="0" fontAlgn="ctr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</a:pPr>
                      <a:endParaRPr lang="fr-FR" sz="1200" dirty="0"/>
                    </a:p>
                  </a:txBody>
                  <a:tcPr marL="121888" marR="121888" marT="60944" marB="60944"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r>
                        <a:rPr lang="fr-FR" sz="1200" i="0" dirty="0">
                          <a:solidFill>
                            <a:schemeClr val="tx1"/>
                          </a:solidFill>
                          <a:latin typeface="Calibri" panose="020F0502020204030204"/>
                        </a:rPr>
                        <a:t>Séparation des taches pour avancer plus vite</a:t>
                      </a:r>
                    </a:p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r>
                        <a:rPr lang="fr-FR" sz="1200" i="0" dirty="0">
                          <a:solidFill>
                            <a:schemeClr val="tx1"/>
                          </a:solidFill>
                          <a:latin typeface="Calibri" panose="020F0502020204030204"/>
                        </a:rPr>
                        <a:t>Structure de données à choisir pour la suite du projet</a:t>
                      </a:r>
                    </a:p>
                    <a:p>
                      <a:pPr marL="228525" marR="0" lvl="0" indent="-228525" algn="l" defTabSz="914103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7A896"/>
                        </a:buClr>
                        <a:buSzTx/>
                        <a:buFont typeface="Wingdings" panose="05000000000000000000" pitchFamily="2" charset="2"/>
                        <a:buChar char="§"/>
                        <a:tabLst>
                          <a:tab pos="457052" algn="l"/>
                        </a:tabLst>
                        <a:defRPr/>
                      </a:pP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sz="1200" dirty="0"/>
                    </a:p>
                  </a:txBody>
                  <a:tcPr marL="121888" marR="121888" marT="60944" marB="60944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0073608"/>
                  </a:ext>
                </a:extLst>
              </a:tr>
            </a:tbl>
          </a:graphicData>
        </a:graphic>
      </p:graphicFrame>
      <p:graphicFrame>
        <p:nvGraphicFramePr>
          <p:cNvPr id="10" name="Tableau 48">
            <a:extLst>
              <a:ext uri="{FF2B5EF4-FFF2-40B4-BE49-F238E27FC236}">
                <a16:creationId xmlns:a16="http://schemas.microsoft.com/office/drawing/2014/main" id="{DA0F6962-54F3-4688-A9AB-CCB9CCDF5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64782"/>
              </p:ext>
            </p:extLst>
          </p:nvPr>
        </p:nvGraphicFramePr>
        <p:xfrm>
          <a:off x="462386" y="727745"/>
          <a:ext cx="11267227" cy="9702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918">
                  <a:extLst>
                    <a:ext uri="{9D8B030D-6E8A-4147-A177-3AD203B41FA5}">
                      <a16:colId xmlns:a16="http://schemas.microsoft.com/office/drawing/2014/main" val="4008770120"/>
                    </a:ext>
                  </a:extLst>
                </a:gridCol>
                <a:gridCol w="1700238">
                  <a:extLst>
                    <a:ext uri="{9D8B030D-6E8A-4147-A177-3AD203B41FA5}">
                      <a16:colId xmlns:a16="http://schemas.microsoft.com/office/drawing/2014/main" val="800274438"/>
                    </a:ext>
                  </a:extLst>
                </a:gridCol>
                <a:gridCol w="2757462">
                  <a:extLst>
                    <a:ext uri="{9D8B030D-6E8A-4147-A177-3AD203B41FA5}">
                      <a16:colId xmlns:a16="http://schemas.microsoft.com/office/drawing/2014/main" val="357501457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38067069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5200431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798308359"/>
                    </a:ext>
                  </a:extLst>
                </a:gridCol>
                <a:gridCol w="878584">
                  <a:extLst>
                    <a:ext uri="{9D8B030D-6E8A-4147-A177-3AD203B41FA5}">
                      <a16:colId xmlns:a16="http://schemas.microsoft.com/office/drawing/2014/main" val="2747037615"/>
                    </a:ext>
                  </a:extLst>
                </a:gridCol>
              </a:tblGrid>
              <a:tr h="30028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121888" marR="121888" marT="60944" marB="60944" anchor="ctr"/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fr-FR" sz="1200" b="1" dirty="0">
                          <a:solidFill>
                            <a:schemeClr val="lt1"/>
                          </a:solidFill>
                        </a:rPr>
                        <a:t>Nom du Projet</a:t>
                      </a:r>
                      <a:endParaRPr lang="fr-FR" sz="1200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4" marB="60944" anchor="ctr"/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fr-FR" sz="1200" b="1" dirty="0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lang="fr-FR" sz="1200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4" marB="60944" anchor="ctr"/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lt1"/>
                          </a:solidFill>
                        </a:rPr>
                        <a:t>Membres de l’équipe</a:t>
                      </a:r>
                      <a:endParaRPr lang="fr-FR" sz="1200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4" marB="60944" anchor="ctr"/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fr-FR" sz="1200" b="1" dirty="0">
                          <a:solidFill>
                            <a:schemeClr val="lt1"/>
                          </a:solidFill>
                        </a:rPr>
                        <a:t>Avancement </a:t>
                      </a:r>
                      <a:endParaRPr lang="fr-FR" sz="1200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4" marB="60944" anchor="ctr"/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fr-FR" sz="1200" b="1" dirty="0">
                          <a:solidFill>
                            <a:schemeClr val="lt1"/>
                          </a:solidFill>
                        </a:rPr>
                        <a:t>Météo</a:t>
                      </a:r>
                      <a:endParaRPr lang="fr-FR" sz="1200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4" marB="60944" anchor="ctr"/>
                </a:tc>
                <a:tc>
                  <a:txBody>
                    <a:bodyPr/>
                    <a:lstStyle>
                      <a:lvl1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>
                        <a:defRPr b="1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fr-FR" sz="1200" b="1" dirty="0">
                          <a:solidFill>
                            <a:schemeClr val="lt1"/>
                          </a:solidFill>
                        </a:rPr>
                        <a:t>Tendance</a:t>
                      </a:r>
                      <a:endParaRPr lang="fr-FR" sz="1200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3" marB="60943"/>
                </a:tc>
                <a:extLst>
                  <a:ext uri="{0D108BD9-81ED-4DB2-BD59-A6C34878D82A}">
                    <a16:rowId xmlns:a16="http://schemas.microsoft.com/office/drawing/2014/main" val="51608197"/>
                  </a:ext>
                </a:extLst>
              </a:tr>
              <a:tr h="465423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i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01/04/2025</a:t>
                      </a:r>
                    </a:p>
                  </a:txBody>
                  <a:tcPr marL="162518" marR="162518" marT="81259" marB="8125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i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Informatique quantique</a:t>
                      </a:r>
                    </a:p>
                  </a:txBody>
                  <a:tcPr marL="162518" marR="162518" marT="81259" marB="8125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Implémentation d’algorithme de simulation quantique avec des réseaux de tenseurs</a:t>
                      </a:r>
                      <a:endParaRPr lang="fr-FR" sz="1100" i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2518" marR="162518" marT="81259" marB="8125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i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Aurore BELLESSA Titouan MOINE Gaétan LECHOUX Mathias PHILIPPE Reda HAMAMA Yassir BOUARBI Maroua EL FATHI</a:t>
                      </a:r>
                    </a:p>
                  </a:txBody>
                  <a:tcPr marL="162518" marR="162518" marT="81259" marB="8125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FF0000"/>
                          </a:solidFill>
                        </a:rPr>
                        <a:t>           5%</a:t>
                      </a:r>
                      <a:endParaRPr lang="fr-FR" sz="1100" i="1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2518" marR="162518" marT="81259" marB="8125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4" marB="6094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>
                        <a:defRPr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fr-FR" sz="11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888" marR="121888" marT="60943" marB="60943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352330"/>
                  </a:ext>
                </a:extLst>
              </a:tr>
            </a:tbl>
          </a:graphicData>
        </a:graphic>
      </p:graphicFrame>
      <p:pic>
        <p:nvPicPr>
          <p:cNvPr id="2" name="Picture 4">
            <a:extLst>
              <a:ext uri="{FF2B5EF4-FFF2-40B4-BE49-F238E27FC236}">
                <a16:creationId xmlns:a16="http://schemas.microsoft.com/office/drawing/2014/main" id="{EE7D6295-5747-DC03-F962-102B7E6D9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036" y="1169819"/>
            <a:ext cx="412693" cy="412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4D30CF4C-D94F-491E-9C2C-9C3CCD021837}"/>
              </a:ext>
            </a:extLst>
          </p:cNvPr>
          <p:cNvCxnSpPr/>
          <p:nvPr/>
        </p:nvCxnSpPr>
        <p:spPr>
          <a:xfrm>
            <a:off x="11164063" y="1373832"/>
            <a:ext cx="331151" cy="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817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208</Words>
  <Application>Microsoft Macintosh PowerPoint</Application>
  <PresentationFormat>Grand écran</PresentationFormat>
  <Paragraphs>27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MS PGothic</vt:lpstr>
      <vt:lpstr>Arial</vt:lpstr>
      <vt:lpstr>Calibri</vt:lpstr>
      <vt:lpstr>Century Gothic</vt:lpstr>
      <vt:lpstr>Cooper Black</vt:lpstr>
      <vt:lpstr>Lucida Sans</vt:lpstr>
      <vt:lpstr>Wingdings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 Laux</dc:creator>
  <cp:lastModifiedBy>Aurore Bellessa (Student at CentraleSupelec)</cp:lastModifiedBy>
  <cp:revision>3</cp:revision>
  <dcterms:created xsi:type="dcterms:W3CDTF">2024-03-09T18:52:23Z</dcterms:created>
  <dcterms:modified xsi:type="dcterms:W3CDTF">2025-04-04T08:57:33Z</dcterms:modified>
</cp:coreProperties>
</file>